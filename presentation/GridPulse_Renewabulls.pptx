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26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81F3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081F3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640080" cy="640080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5" name="Image 0" descr="/home/claude/gridpulse/icon_z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29" y="895409"/>
            <a:ext cx="401970" cy="4019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7132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GridPulse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Grid Optimisation for a Renewable-First Power Grid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3246120"/>
            <a:ext cx="38404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Renewabulls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977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AI Innovation Hackathon 2026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87552" y="4617720"/>
            <a:ext cx="5705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(Sustainability)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989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Manya Verma  ·  Khush Tailor  ·  Netra Vyas  ·  Shourya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509760" y="-1005840"/>
            <a:ext cx="3291840" cy="3291840"/>
          </a:xfrm>
          <a:prstGeom prst="ellipse">
            <a:avLst/>
          </a:prstGeom>
          <a:solidFill>
            <a:srgbClr val="F4F7F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7818120" cy="1481328"/>
          </a:xfrm>
          <a:prstGeom prst="roundRect">
            <a:avLst>
              <a:gd name="adj" fmla="val 5556"/>
            </a:avLst>
          </a:prstGeom>
          <a:solidFill>
            <a:srgbClr val="F4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66928" cy="566928"/>
          </a:xfrm>
          <a:prstGeom prst="ellipse">
            <a:avLst/>
          </a:prstGeom>
          <a:solidFill>
            <a:srgbClr val="0B2E4E"/>
          </a:solidFill>
          <a:ln/>
        </p:spPr>
      </p:sp>
      <p:pic>
        <p:nvPicPr>
          <p:cNvPr id="6" name="Image 0" descr="/home/claude/gridpulse/icon_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44" y="2070624"/>
            <a:ext cx="356031" cy="3560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67335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keeps shifting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057400"/>
            <a:ext cx="63550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demand fluctuates hour to hour, while grid capacity planning still moves slowly.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7818120" cy="1481328"/>
          </a:xfrm>
          <a:prstGeom prst="roundRect">
            <a:avLst>
              <a:gd name="adj" fmla="val 5556"/>
            </a:avLst>
          </a:prstGeom>
          <a:solidFill>
            <a:srgbClr val="F4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611880"/>
            <a:ext cx="566928" cy="566928"/>
          </a:xfrm>
          <a:prstGeom prst="ellipse">
            <a:avLst/>
          </a:prstGeom>
          <a:solidFill>
            <a:srgbClr val="0B2E4E"/>
          </a:solidFill>
          <a:ln/>
        </p:spPr>
      </p:sp>
      <p:pic>
        <p:nvPicPr>
          <p:cNvPr id="11" name="Image 1" descr="/home/claude/gridpulse/icon_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44" y="3716544"/>
            <a:ext cx="356031" cy="35603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31927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are inconsistent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3703320"/>
            <a:ext cx="63550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and wind output swings with weather, making supply hard to predict or rely 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7818120" cy="1481328"/>
          </a:xfrm>
          <a:prstGeom prst="roundRect">
            <a:avLst>
              <a:gd name="adj" fmla="val 5556"/>
            </a:avLst>
          </a:prstGeom>
          <a:solidFill>
            <a:srgbClr val="F4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5257800"/>
            <a:ext cx="566928" cy="566928"/>
          </a:xfrm>
          <a:prstGeom prst="ellipse">
            <a:avLst/>
          </a:prstGeom>
          <a:solidFill>
            <a:srgbClr val="0B2E4E"/>
          </a:solidFill>
          <a:ln/>
        </p:spPr>
      </p:sp>
      <p:pic>
        <p:nvPicPr>
          <p:cNvPr id="16" name="Image 2" descr="/home/claude/gridpulse/icon_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344" y="5362464"/>
            <a:ext cx="356031" cy="35603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96519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fly blind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5349240"/>
            <a:ext cx="63550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timely, data-driven insight, spikes and underperformance are caught late — after instability or lost clean energy has already occurred.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641080" y="1508760"/>
            <a:ext cx="3017520" cy="4773168"/>
          </a:xfrm>
          <a:prstGeom prst="roundRect">
            <a:avLst>
              <a:gd name="adj" fmla="val 2727"/>
            </a:avLst>
          </a:prstGeom>
          <a:solidFill>
            <a:srgbClr val="0B2E4E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91540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915400" y="20574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operators and utility companies balancing live supply and demand every minute of every day.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15400" y="3246120"/>
            <a:ext cx="2468880" cy="0"/>
          </a:xfrm>
          <a:prstGeom prst="line">
            <a:avLst/>
          </a:prstGeom>
          <a:noFill/>
          <a:ln w="12700">
            <a:solidFill>
              <a:srgbClr val="1E4A6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91540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8915400" y="37490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instability risks outages — and unused clean energy gets curtailed, wasting renewable capacity we can't afford to waste.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Renewabulls team README — problem statement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GridPulse</a:t>
            </a: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AI-assisted grid optimisation system: it forecasts demand and renewable generation, detects grid anomalies, and simulates balancing actions — so operators can act faster on data, not guesswork.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0B2E4E"/>
          </a:solidFill>
          <a:ln/>
        </p:spPr>
      </p:sp>
      <p:pic>
        <p:nvPicPr>
          <p:cNvPr id="5" name="Image 0" descr="/home/claude/gridpulse/icon_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748" y="2770632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3832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Grid Data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688336" y="3154680"/>
            <a:ext cx="246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971800" y="25146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pic>
        <p:nvPicPr>
          <p:cNvPr id="9" name="Image 1" descr="/home/claude/gridpulse/icon_tren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748" y="2770632"/>
            <a:ext cx="512064" cy="5120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063240" y="33832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Generation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4974336" y="3154680"/>
            <a:ext cx="246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5257800" y="25146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0B2E4E"/>
          </a:solidFill>
          <a:ln/>
        </p:spPr>
      </p:sp>
      <p:pic>
        <p:nvPicPr>
          <p:cNvPr id="13" name="Image 2" descr="/home/claude/gridpulse/icon_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748" y="2770632"/>
            <a:ext cx="512064" cy="5120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33832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7260336" y="3154680"/>
            <a:ext cx="246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7543800" y="25146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pic>
        <p:nvPicPr>
          <p:cNvPr id="17" name="Image 3" descr="/home/claude/gridpulse/icon_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0748" y="2770632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35240" y="33832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Balancing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9546336" y="3154680"/>
            <a:ext cx="246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4"/>
          <p:cNvSpPr/>
          <p:nvPr/>
        </p:nvSpPr>
        <p:spPr>
          <a:xfrm>
            <a:off x="9829800" y="25146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B627"/>
          </a:solidFill>
          <a:ln/>
        </p:spPr>
      </p:sp>
      <p:pic>
        <p:nvPicPr>
          <p:cNvPr id="21" name="Image 4" descr="/home/claude/gridpulse/icon_robo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6748" y="2770632"/>
            <a:ext cx="512064" cy="51206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21240" y="338328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48640" y="4892040"/>
            <a:ext cx="11247120" cy="1234440"/>
          </a:xfrm>
          <a:prstGeom prst="roundRect">
            <a:avLst>
              <a:gd name="adj" fmla="val 6667"/>
            </a:avLst>
          </a:prstGeom>
          <a:solidFill>
            <a:srgbClr val="F4F7F7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822960" y="5120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500" dirty="0">
                <a:solidFill>
                  <a:srgbClr val="22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data-driven decisions that keep the grid stable while maximising renewable-energy utilisation and reducing curtailment.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Renewabulls team README — solution overview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pipeline, built around GridPulse's five core capabilities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gridpulse/icon_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75" y="1694735"/>
            <a:ext cx="321576" cy="3215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57276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91109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short-term electricity demand from historical + real-time grid data.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/home/claude/gridpulse/icon_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75" y="3112055"/>
            <a:ext cx="321576" cy="3215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99008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Performance Monitoring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32841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expected vs. actual solar/wind output to catch underperformance.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43484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/home/claude/gridpulse/icon_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75" y="4529375"/>
            <a:ext cx="321576" cy="3215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440740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Red-Flag Engine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474573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abnormal grid conditions and assigns severity for early warning.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55080" y="1600200"/>
            <a:ext cx="512064" cy="512064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17" name="Image 3" descr="/home/claude/gridpulse/icon_layer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9615" y="1694735"/>
            <a:ext cx="321576" cy="3215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40880" y="157276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What-If &amp; Action Generator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040880" y="191109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balancing actions, recommends the best one on stability, cost &amp; renewable use.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55080" y="3017520"/>
            <a:ext cx="512064" cy="512064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21" name="Image 4" descr="/home/claude/gridpulse/icon_robo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9615" y="3112055"/>
            <a:ext cx="321576" cy="32157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40880" y="299008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Operator Brief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7040880" y="332841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forecasts, anomalies &amp; simulations into a clear, explainable next-step recommendation.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structured from the five features described in the repo README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Feature: AI Operator Brief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signals to a decision an operator can act on in seconds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0B2E4E"/>
          </a:solidFill>
          <a:ln/>
        </p:spPr>
      </p:sp>
      <p:pic>
        <p:nvPicPr>
          <p:cNvPr id="5" name="Image 0" descr="/home/claude/gridpulse/icon_tre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87" y="1830207"/>
            <a:ext cx="315834" cy="3158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8105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output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19456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0B2E4E"/>
          </a:solidFill>
          <a:ln/>
        </p:spPr>
      </p:sp>
      <p:pic>
        <p:nvPicPr>
          <p:cNvPr id="9" name="Image 1" descr="/home/claude/gridpulse/icon_ale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87" y="2790327"/>
            <a:ext cx="315834" cy="3158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770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13232" y="3154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0B2E4E"/>
          </a:solidFill>
          <a:ln/>
        </p:spPr>
      </p:sp>
      <p:pic>
        <p:nvPicPr>
          <p:cNvPr id="13" name="Image 2" descr="/home/claude/gridpulse/icon_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87" y="3750447"/>
            <a:ext cx="315834" cy="3158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7307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actions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709160"/>
            <a:ext cx="3291840" cy="1051560"/>
          </a:xfrm>
          <a:prstGeom prst="roundRect">
            <a:avLst>
              <a:gd name="adj" fmla="val 7826"/>
            </a:avLst>
          </a:prstGeom>
          <a:solidFill>
            <a:srgbClr val="00A896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31520" y="48280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Plain-language, explainable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for the operator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434840" y="1691640"/>
            <a:ext cx="7360920" cy="4160520"/>
          </a:xfrm>
          <a:prstGeom prst="roundRect">
            <a:avLst>
              <a:gd name="adj" fmla="val 2198"/>
            </a:avLst>
          </a:prstGeom>
          <a:solidFill>
            <a:srgbClr val="F4F7F7"/>
          </a:solidFill>
          <a:ln w="19050">
            <a:solidFill>
              <a:srgbClr val="E4E9E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589520" y="3017520"/>
            <a:ext cx="822960" cy="822960"/>
          </a:xfrm>
          <a:prstGeom prst="ellipse">
            <a:avLst/>
          </a:prstGeom>
          <a:solidFill>
            <a:srgbClr val="E4E9EA"/>
          </a:solidFill>
          <a:ln/>
        </p:spPr>
      </p:sp>
      <p:pic>
        <p:nvPicPr>
          <p:cNvPr id="19" name="Image 3" descr="/home/claude/gridpulse/icon_cha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1451" y="3169451"/>
            <a:ext cx="516819" cy="51681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20640" y="39776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product screenshot or short demo GIF frame here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Operator Brief panel, dashboard, or What-If simulator)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docs/setup-guide.md and demo/screenshots/ in the repo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C2B74C4-D5E2-3996-72B8-91C4976F0D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415" y="1719072"/>
            <a:ext cx="7338345" cy="40958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Technologies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4F7F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0B2E4E"/>
          </a:solidFill>
          <a:ln/>
        </p:spPr>
      </p:sp>
      <p:pic>
        <p:nvPicPr>
          <p:cNvPr id="5" name="Image 0" descr="/home/claude/gridpulse/icon_cpu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24" y="1796304"/>
            <a:ext cx="356031" cy="35603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788920"/>
            <a:ext cx="3017520" cy="1691640"/>
          </a:xfrm>
          <a:prstGeom prst="roundRect">
            <a:avLst>
              <a:gd name="adj" fmla="val 4324"/>
            </a:avLst>
          </a:prstGeom>
          <a:solidFill>
            <a:srgbClr val="FFF6E5"/>
          </a:solidFill>
          <a:ln w="12700">
            <a:solidFill>
              <a:srgbClr val="FFB627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987552" y="2788920"/>
            <a:ext cx="268833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TO CONFIRM  </a:t>
            </a:r>
            <a:r>
              <a:rPr lang="en-US" sz="125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specifics: how Bob was used in the build — e.g. codebase reasoning, agent workflows, scaffolding.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4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691640"/>
            <a:ext cx="566928" cy="566928"/>
          </a:xfrm>
          <a:prstGeom prst="ellipse">
            <a:avLst/>
          </a:prstGeom>
          <a:solidFill>
            <a:srgbClr val="0B2E4E"/>
          </a:solidFill>
          <a:ln/>
        </p:spPr>
      </p:sp>
      <p:pic>
        <p:nvPicPr>
          <p:cNvPr id="11" name="Image 1" descr="/home/claude/gridpulse/icon_activit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384" y="1796304"/>
            <a:ext cx="356031" cy="35603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617720" y="2788920"/>
            <a:ext cx="3017520" cy="1691640"/>
          </a:xfrm>
          <a:prstGeom prst="roundRect">
            <a:avLst>
              <a:gd name="adj" fmla="val 4324"/>
            </a:avLst>
          </a:prstGeom>
          <a:solidFill>
            <a:srgbClr val="FFF6E5"/>
          </a:solidFill>
          <a:ln w="12700">
            <a:solidFill>
              <a:srgbClr val="FFB627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4782312" y="2788920"/>
            <a:ext cx="268833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TO CONFIRM  </a:t>
            </a:r>
            <a:r>
              <a:rPr lang="en-US" sz="125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specifics: which model(s) power forecasting / anomaly detection / the Operator Brief, and how they're called.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141732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4F7F7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1691640"/>
            <a:ext cx="566928" cy="566928"/>
          </a:xfrm>
          <a:prstGeom prst="ellipse">
            <a:avLst/>
          </a:prstGeom>
          <a:solidFill>
            <a:srgbClr val="0B2E4E"/>
          </a:solidFill>
          <a:ln/>
        </p:spPr>
      </p:sp>
      <p:pic>
        <p:nvPicPr>
          <p:cNvPr id="17" name="Image 2" descr="/home/claude/gridpulse/icon_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7144" y="1796304"/>
            <a:ext cx="356031" cy="35603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/ other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412480" y="2788920"/>
            <a:ext cx="3017520" cy="1691640"/>
          </a:xfrm>
          <a:prstGeom prst="roundRect">
            <a:avLst>
              <a:gd name="adj" fmla="val 4324"/>
            </a:avLst>
          </a:prstGeom>
          <a:solidFill>
            <a:srgbClr val="FFF6E5"/>
          </a:solidFill>
          <a:ln w="12700">
            <a:solidFill>
              <a:srgbClr val="FFB627"/>
            </a:solidFill>
            <a:prstDash val="dash"/>
          </a:ln>
        </p:spPr>
      </p:sp>
      <p:sp>
        <p:nvSpPr>
          <p:cNvPr id="20" name="Text 15"/>
          <p:cNvSpPr/>
          <p:nvPr/>
        </p:nvSpPr>
        <p:spPr>
          <a:xfrm>
            <a:off x="8577072" y="2788920"/>
            <a:ext cx="268833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TO CONFIRM  </a:t>
            </a:r>
            <a:r>
              <a:rPr lang="en-US" sz="125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specifics: any IBM Cloud services, Orchestrate, or Granite models used in the pipeline.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section wasn't filled in on the repo's README yet — replace the boxes above with the exact IBM tools and how each was used before submitting.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Impact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 for a grid operator using GridPulse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081F38"/>
          </a:solidFill>
          <a:ln/>
        </p:spPr>
      </p:sp>
      <p:sp>
        <p:nvSpPr>
          <p:cNvPr id="5" name="Shape 3"/>
          <p:cNvSpPr/>
          <p:nvPr/>
        </p:nvSpPr>
        <p:spPr>
          <a:xfrm>
            <a:off x="1545336" y="19202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gridpulse/icon_leaf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623" y="2021527"/>
            <a:ext cx="344546" cy="34454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renewable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curtailment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169164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081F38"/>
          </a:solidFill>
          <a:ln/>
        </p:spPr>
      </p:sp>
      <p:sp>
        <p:nvSpPr>
          <p:cNvPr id="9" name="Shape 6"/>
          <p:cNvSpPr/>
          <p:nvPr/>
        </p:nvSpPr>
        <p:spPr>
          <a:xfrm>
            <a:off x="4334256" y="19202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gridpulse/icon_activit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543" y="2021527"/>
            <a:ext cx="344546" cy="34454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operation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0" y="169164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081F38"/>
          </a:solidFill>
          <a:ln/>
        </p:spPr>
      </p:sp>
      <p:sp>
        <p:nvSpPr>
          <p:cNvPr id="13" name="Shape 9"/>
          <p:cNvSpPr/>
          <p:nvPr/>
        </p:nvSpPr>
        <p:spPr>
          <a:xfrm>
            <a:off x="7123176" y="19202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/home/claude/gridpulse/icon_tre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463" y="2021527"/>
            <a:ext cx="344546" cy="34454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1792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cycles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915400" y="169164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081F38"/>
          </a:solidFill>
          <a:ln/>
        </p:spPr>
      </p:sp>
      <p:sp>
        <p:nvSpPr>
          <p:cNvPr id="17" name="Shape 12"/>
          <p:cNvSpPr/>
          <p:nvPr/>
        </p:nvSpPr>
        <p:spPr>
          <a:xfrm>
            <a:off x="9912096" y="19202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3" descr="/home/claude/gridpulse/icon_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3383" y="2021527"/>
            <a:ext cx="344546" cy="34454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0684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anomaly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13232" y="3886200"/>
            <a:ext cx="1073505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Renewabulls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4F7F7"/>
          </a:solidFill>
          <a:ln/>
        </p:spPr>
      </p:sp>
      <p:sp>
        <p:nvSpPr>
          <p:cNvPr id="5" name="Shape 3"/>
          <p:cNvSpPr/>
          <p:nvPr/>
        </p:nvSpPr>
        <p:spPr>
          <a:xfrm>
            <a:off x="1545336" y="2011680"/>
            <a:ext cx="566928" cy="566928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6" name="Image 0" descr="/home/claude/gridpulse/icon_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000" y="2116344"/>
            <a:ext cx="356031" cy="3560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 Tailor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" y="356616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FFF6E5"/>
          </a:solidFill>
          <a:ln w="12700">
            <a:solidFill>
              <a:srgbClr val="FFB627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850392" y="3566160"/>
            <a:ext cx="195681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Code, interacting with Bob AI</a:t>
            </a:r>
          </a:p>
          <a:p>
            <a:pPr marL="0" indent="0" algn="l">
              <a:buNone/>
            </a:pPr>
            <a:r>
              <a:rPr lang="en-US" sz="1250" b="1" dirty="0" err="1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37560" y="17373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4F7F7"/>
          </a:solidFill>
          <a:ln/>
        </p:spPr>
      </p:sp>
      <p:sp>
        <p:nvSpPr>
          <p:cNvPr id="12" name="Shape 9"/>
          <p:cNvSpPr/>
          <p:nvPr/>
        </p:nvSpPr>
        <p:spPr>
          <a:xfrm>
            <a:off x="4334256" y="2011680"/>
            <a:ext cx="566928" cy="566928"/>
          </a:xfrm>
          <a:prstGeom prst="ellipse">
            <a:avLst/>
          </a:prstGeom>
          <a:solidFill>
            <a:srgbClr val="0B2E4E"/>
          </a:solidFill>
          <a:ln/>
        </p:spPr>
      </p:sp>
      <p:pic>
        <p:nvPicPr>
          <p:cNvPr id="13" name="Image 1" descr="/home/claude/gridpulse/icon_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920" y="2116344"/>
            <a:ext cx="356031" cy="35603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Manya Verma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74720" y="3584448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FFF6E5"/>
          </a:solidFill>
          <a:ln w="12700">
            <a:solidFill>
              <a:srgbClr val="FFB627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3"/>
          <p:cNvSpPr/>
          <p:nvPr/>
        </p:nvSpPr>
        <p:spPr>
          <a:xfrm>
            <a:off x="3639312" y="3566160"/>
            <a:ext cx="195681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B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Repository, Presentation slides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126480" y="17373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4F7F7"/>
          </a:solidFill>
          <a:ln/>
        </p:spPr>
      </p:sp>
      <p:sp>
        <p:nvSpPr>
          <p:cNvPr id="19" name="Shape 15"/>
          <p:cNvSpPr/>
          <p:nvPr/>
        </p:nvSpPr>
        <p:spPr>
          <a:xfrm>
            <a:off x="7123176" y="2011680"/>
            <a:ext cx="566928" cy="566928"/>
          </a:xfrm>
          <a:prstGeom prst="ellipse">
            <a:avLst/>
          </a:prstGeom>
          <a:solidFill>
            <a:srgbClr val="0B2E4E"/>
          </a:solidFill>
          <a:ln/>
        </p:spPr>
      </p:sp>
      <p:pic>
        <p:nvPicPr>
          <p:cNvPr id="20" name="Image 2" descr="/home/claude/gridpulse/icon_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840" y="2116344"/>
            <a:ext cx="356031" cy="35603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6364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Netra Vyas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263640" y="356616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FFF6E5"/>
          </a:solidFill>
          <a:ln w="12700">
            <a:solidFill>
              <a:srgbClr val="FFB627"/>
            </a:solidFill>
            <a:prstDash val="dash"/>
          </a:ln>
        </p:spPr>
      </p:sp>
      <p:sp>
        <p:nvSpPr>
          <p:cNvPr id="24" name="Text 19"/>
          <p:cNvSpPr/>
          <p:nvPr/>
        </p:nvSpPr>
        <p:spPr>
          <a:xfrm>
            <a:off x="6428232" y="3566160"/>
            <a:ext cx="195681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8915400" y="17373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4F7F7"/>
          </a:solidFill>
          <a:ln/>
        </p:spPr>
      </p:sp>
      <p:sp>
        <p:nvSpPr>
          <p:cNvPr id="26" name="Shape 21"/>
          <p:cNvSpPr/>
          <p:nvPr/>
        </p:nvSpPr>
        <p:spPr>
          <a:xfrm>
            <a:off x="9912096" y="2011680"/>
            <a:ext cx="566928" cy="566928"/>
          </a:xfrm>
          <a:prstGeom prst="ellipse">
            <a:avLst/>
          </a:prstGeom>
          <a:solidFill>
            <a:srgbClr val="0B2E4E"/>
          </a:solidFill>
          <a:ln/>
        </p:spPr>
      </p:sp>
      <p:pic>
        <p:nvPicPr>
          <p:cNvPr id="27" name="Image 3" descr="/home/claude/gridpulse/icon_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6760" y="2116344"/>
            <a:ext cx="356031" cy="35603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05256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Shourya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905256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9052560" y="356616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FFF6E5"/>
          </a:solidFill>
          <a:ln w="12700">
            <a:solidFill>
              <a:srgbClr val="FFB627"/>
            </a:solidFill>
            <a:prstDash val="dash"/>
          </a:ln>
        </p:spPr>
      </p:sp>
      <p:sp>
        <p:nvSpPr>
          <p:cNvPr id="31" name="Text 25"/>
          <p:cNvSpPr/>
          <p:nvPr/>
        </p:nvSpPr>
        <p:spPr>
          <a:xfrm>
            <a:off x="9217152" y="3566160"/>
            <a:ext cx="195681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Development, visual formatting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548640" y="65064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from the repo README — add each person's specific contribution above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612</Words>
  <Application>Microsoft Office PowerPoint</Application>
  <PresentationFormat>Widescreen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Nimesh Mayank</cp:lastModifiedBy>
  <cp:revision>2</cp:revision>
  <dcterms:created xsi:type="dcterms:W3CDTF">2026-09-15T15:37:28Z</dcterms:created>
  <dcterms:modified xsi:type="dcterms:W3CDTF">2026-09-15T16:01:17Z</dcterms:modified>
</cp:coreProperties>
</file>